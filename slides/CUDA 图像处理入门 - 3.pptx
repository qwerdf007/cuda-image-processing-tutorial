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4" r:id="rId3"/>
    <p:sldId id="257" r:id="rId4"/>
    <p:sldId id="267" r:id="rId5"/>
    <p:sldId id="268" r:id="rId6"/>
    <p:sldId id="269" r:id="rId7"/>
    <p:sldId id="270" r:id="rId8"/>
    <p:sldId id="271" r:id="rId9"/>
    <p:sldId id="259" r:id="rId10"/>
    <p:sldId id="260" r:id="rId11"/>
    <p:sldId id="258" r:id="rId12"/>
    <p:sldId id="265" r:id="rId13"/>
    <p:sldId id="266" r:id="rId14"/>
    <p:sldId id="263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144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dirty="0"/>
              <a:t>不同核大小的核函数平均耗时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blur_image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15</c:v>
                </c:pt>
                <c:pt idx="4">
                  <c:v>21</c:v>
                </c:pt>
                <c:pt idx="5">
                  <c:v>31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1.0269E-2</c:v>
                </c:pt>
                <c:pt idx="1">
                  <c:v>1.7028499999999998E-2</c:v>
                </c:pt>
                <c:pt idx="2">
                  <c:v>2.16873E-2</c:v>
                </c:pt>
                <c:pt idx="3">
                  <c:v>8.12919E-2</c:v>
                </c:pt>
                <c:pt idx="4">
                  <c:v>0.157781</c:v>
                </c:pt>
                <c:pt idx="5">
                  <c:v>0.31457400000000002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70-41AB-8EC9-E55936796A6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blur_image_separable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15</c:v>
                </c:pt>
                <c:pt idx="4">
                  <c:v>21</c:v>
                </c:pt>
                <c:pt idx="5">
                  <c:v>31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1.59294E-2</c:v>
                </c:pt>
                <c:pt idx="1">
                  <c:v>1.4475699999999999E-2</c:v>
                </c:pt>
                <c:pt idx="2">
                  <c:v>1.73267E-2</c:v>
                </c:pt>
                <c:pt idx="3">
                  <c:v>2.7720100000000001E-2</c:v>
                </c:pt>
                <c:pt idx="4">
                  <c:v>3.2224200000000001E-2</c:v>
                </c:pt>
                <c:pt idx="5">
                  <c:v>4.4315E-2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370-41AB-8EC9-E55936796A6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00470671"/>
        <c:axId val="1400472591"/>
      </c:barChart>
      <c:catAx>
        <c:axId val="140047067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zh-CN" altLang="en-US" dirty="0"/>
                  <a:t>核大小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400472591"/>
        <c:crosses val="autoZero"/>
        <c:auto val="1"/>
        <c:lblAlgn val="ctr"/>
        <c:lblOffset val="100"/>
        <c:noMultiLvlLbl val="0"/>
      </c:catAx>
      <c:valAx>
        <c:axId val="14004725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zh-CN" altLang="en-US" dirty="0"/>
                  <a:t>运行时间 </a:t>
                </a:r>
                <a:r>
                  <a:rPr lang="en-US" altLang="zh-CN" dirty="0"/>
                  <a:t>(</a:t>
                </a:r>
                <a:r>
                  <a:rPr lang="en-US" altLang="zh-CN" dirty="0" err="1"/>
                  <a:t>ms</a:t>
                </a:r>
                <a:r>
                  <a:rPr lang="en-US" altLang="zh-CN" dirty="0"/>
                  <a:t>)</a:t>
                </a:r>
                <a:endParaRPr lang="zh-CN" alt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400470671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dirty="0"/>
              <a:t>不同核大小的核函数平均耗时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blur_image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exp"/>
            <c:dispRSqr val="0"/>
            <c:dispEq val="0"/>
          </c:trendline>
          <c:cat>
            <c:numRef>
              <c:f>Sheet1!$A$2:$A$7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15</c:v>
                </c:pt>
                <c:pt idx="4">
                  <c:v>21</c:v>
                </c:pt>
                <c:pt idx="5">
                  <c:v>31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1.0269E-2</c:v>
                </c:pt>
                <c:pt idx="1">
                  <c:v>1.7028499999999998E-2</c:v>
                </c:pt>
                <c:pt idx="2">
                  <c:v>2.16873E-2</c:v>
                </c:pt>
                <c:pt idx="3">
                  <c:v>8.12919E-2</c:v>
                </c:pt>
                <c:pt idx="4">
                  <c:v>0.157781</c:v>
                </c:pt>
                <c:pt idx="5">
                  <c:v>0.31457400000000002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70-41AB-8EC9-E55936796A6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blur_image_separable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15</c:v>
                </c:pt>
                <c:pt idx="4">
                  <c:v>21</c:v>
                </c:pt>
                <c:pt idx="5">
                  <c:v>31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1.59294E-2</c:v>
                </c:pt>
                <c:pt idx="1">
                  <c:v>1.4475699999999999E-2</c:v>
                </c:pt>
                <c:pt idx="2">
                  <c:v>1.73267E-2</c:v>
                </c:pt>
                <c:pt idx="3">
                  <c:v>2.7720100000000001E-2</c:v>
                </c:pt>
                <c:pt idx="4">
                  <c:v>3.2224200000000001E-2</c:v>
                </c:pt>
                <c:pt idx="5">
                  <c:v>4.4315E-2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370-41AB-8EC9-E55936796A6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00470671"/>
        <c:axId val="1400472591"/>
      </c:barChart>
      <c:catAx>
        <c:axId val="140047067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zh-CN" altLang="en-US" dirty="0"/>
                  <a:t>核大小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400472591"/>
        <c:crosses val="autoZero"/>
        <c:auto val="1"/>
        <c:lblAlgn val="ctr"/>
        <c:lblOffset val="100"/>
        <c:noMultiLvlLbl val="0"/>
      </c:catAx>
      <c:valAx>
        <c:axId val="14004725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zh-CN" altLang="en-US" dirty="0"/>
                  <a:t>运行时间 </a:t>
                </a:r>
                <a:r>
                  <a:rPr lang="en-US" altLang="zh-CN" dirty="0"/>
                  <a:t>(</a:t>
                </a:r>
                <a:r>
                  <a:rPr lang="en-US" altLang="zh-CN" dirty="0" err="1"/>
                  <a:t>ms</a:t>
                </a:r>
                <a:r>
                  <a:rPr lang="en-US" altLang="zh-CN" dirty="0"/>
                  <a:t>)</a:t>
                </a:r>
                <a:endParaRPr lang="zh-CN" alt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400470671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dirty="0"/>
              <a:t>不同核大小的核函数平均耗时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blur_image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15</c:v>
                </c:pt>
                <c:pt idx="4">
                  <c:v>21</c:v>
                </c:pt>
                <c:pt idx="5">
                  <c:v>31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1.0269E-2</c:v>
                </c:pt>
                <c:pt idx="1">
                  <c:v>1.7028499999999998E-2</c:v>
                </c:pt>
                <c:pt idx="2">
                  <c:v>2.16873E-2</c:v>
                </c:pt>
                <c:pt idx="3">
                  <c:v>8.12919E-2</c:v>
                </c:pt>
                <c:pt idx="4">
                  <c:v>0.157781</c:v>
                </c:pt>
                <c:pt idx="5">
                  <c:v>0.31457400000000002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70-41AB-8EC9-E55936796A6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blur_image_separable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trendline>
            <c:spPr>
              <a:ln w="19050" cap="rnd">
                <a:solidFill>
                  <a:schemeClr val="accent2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cat>
            <c:numRef>
              <c:f>Sheet1!$A$2:$A$7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15</c:v>
                </c:pt>
                <c:pt idx="4">
                  <c:v>21</c:v>
                </c:pt>
                <c:pt idx="5">
                  <c:v>31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1.59294E-2</c:v>
                </c:pt>
                <c:pt idx="1">
                  <c:v>1.4475699999999999E-2</c:v>
                </c:pt>
                <c:pt idx="2">
                  <c:v>1.73267E-2</c:v>
                </c:pt>
                <c:pt idx="3">
                  <c:v>2.7720100000000001E-2</c:v>
                </c:pt>
                <c:pt idx="4">
                  <c:v>3.2224200000000001E-2</c:v>
                </c:pt>
                <c:pt idx="5">
                  <c:v>4.4315E-2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370-41AB-8EC9-E55936796A6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00470671"/>
        <c:axId val="1400472591"/>
      </c:barChart>
      <c:catAx>
        <c:axId val="140047067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zh-CN" altLang="en-US" dirty="0"/>
                  <a:t>核大小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400472591"/>
        <c:crosses val="autoZero"/>
        <c:auto val="1"/>
        <c:lblAlgn val="ctr"/>
        <c:lblOffset val="100"/>
        <c:noMultiLvlLbl val="0"/>
      </c:catAx>
      <c:valAx>
        <c:axId val="14004725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zh-CN" altLang="en-US" dirty="0"/>
                  <a:t>运行时间 </a:t>
                </a:r>
                <a:r>
                  <a:rPr lang="en-US" altLang="zh-CN" dirty="0"/>
                  <a:t>(</a:t>
                </a:r>
                <a:r>
                  <a:rPr lang="en-US" altLang="zh-CN" dirty="0" err="1"/>
                  <a:t>ms</a:t>
                </a:r>
                <a:r>
                  <a:rPr lang="en-US" altLang="zh-CN" dirty="0"/>
                  <a:t>)</a:t>
                </a:r>
                <a:endParaRPr lang="zh-CN" alt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400470671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dirty="0"/>
              <a:t>不同核大小的核函数平均耗时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blur_image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exp"/>
            <c:dispRSqr val="0"/>
            <c:dispEq val="0"/>
          </c:trendline>
          <c:cat>
            <c:numRef>
              <c:f>Sheet1!$A$2:$A$7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15</c:v>
                </c:pt>
                <c:pt idx="4">
                  <c:v>21</c:v>
                </c:pt>
                <c:pt idx="5">
                  <c:v>31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1.0269E-2</c:v>
                </c:pt>
                <c:pt idx="1">
                  <c:v>1.7028499999999998E-2</c:v>
                </c:pt>
                <c:pt idx="2">
                  <c:v>2.16873E-2</c:v>
                </c:pt>
                <c:pt idx="3">
                  <c:v>8.12919E-2</c:v>
                </c:pt>
                <c:pt idx="4">
                  <c:v>0.157781</c:v>
                </c:pt>
                <c:pt idx="5">
                  <c:v>0.31457400000000002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70-41AB-8EC9-E55936796A6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blur_image_separable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15</c:v>
                </c:pt>
                <c:pt idx="4">
                  <c:v>21</c:v>
                </c:pt>
                <c:pt idx="5">
                  <c:v>31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1.59294E-2</c:v>
                </c:pt>
                <c:pt idx="1">
                  <c:v>1.4475699999999999E-2</c:v>
                </c:pt>
                <c:pt idx="2">
                  <c:v>1.73267E-2</c:v>
                </c:pt>
                <c:pt idx="3">
                  <c:v>2.7720100000000001E-2</c:v>
                </c:pt>
                <c:pt idx="4">
                  <c:v>3.2224200000000001E-2</c:v>
                </c:pt>
                <c:pt idx="5">
                  <c:v>4.4315E-2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370-41AB-8EC9-E55936796A6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00470671"/>
        <c:axId val="1400472591"/>
      </c:barChart>
      <c:catAx>
        <c:axId val="140047067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zh-CN" altLang="en-US" dirty="0"/>
                  <a:t>核大小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400472591"/>
        <c:crosses val="autoZero"/>
        <c:auto val="1"/>
        <c:lblAlgn val="ctr"/>
        <c:lblOffset val="100"/>
        <c:noMultiLvlLbl val="0"/>
      </c:catAx>
      <c:valAx>
        <c:axId val="14004725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zh-CN" altLang="en-US" dirty="0"/>
                  <a:t>运行时间 </a:t>
                </a:r>
                <a:r>
                  <a:rPr lang="en-US" altLang="zh-CN" dirty="0"/>
                  <a:t>(</a:t>
                </a:r>
                <a:r>
                  <a:rPr lang="en-US" altLang="zh-CN" dirty="0" err="1"/>
                  <a:t>ms</a:t>
                </a:r>
                <a:r>
                  <a:rPr lang="en-US" altLang="zh-CN" dirty="0"/>
                  <a:t>)</a:t>
                </a:r>
                <a:endParaRPr lang="zh-CN" alt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400470671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dirty="0"/>
              <a:t>不同核大小的核函数平均耗时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blur_image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15</c:v>
                </c:pt>
                <c:pt idx="4">
                  <c:v>21</c:v>
                </c:pt>
                <c:pt idx="5">
                  <c:v>31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1.0269E-2</c:v>
                </c:pt>
                <c:pt idx="1">
                  <c:v>1.7028499999999998E-2</c:v>
                </c:pt>
                <c:pt idx="2">
                  <c:v>2.16873E-2</c:v>
                </c:pt>
                <c:pt idx="3">
                  <c:v>8.12919E-2</c:v>
                </c:pt>
                <c:pt idx="4">
                  <c:v>0.157781</c:v>
                </c:pt>
                <c:pt idx="5">
                  <c:v>0.31457400000000002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70-41AB-8EC9-E55936796A6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blur_image_separable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trendline>
            <c:spPr>
              <a:ln w="19050" cap="rnd">
                <a:solidFill>
                  <a:schemeClr val="accent2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cat>
            <c:numRef>
              <c:f>Sheet1!$A$2:$A$7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15</c:v>
                </c:pt>
                <c:pt idx="4">
                  <c:v>21</c:v>
                </c:pt>
                <c:pt idx="5">
                  <c:v>31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1.59294E-2</c:v>
                </c:pt>
                <c:pt idx="1">
                  <c:v>1.4475699999999999E-2</c:v>
                </c:pt>
                <c:pt idx="2">
                  <c:v>1.73267E-2</c:v>
                </c:pt>
                <c:pt idx="3">
                  <c:v>2.7720100000000001E-2</c:v>
                </c:pt>
                <c:pt idx="4">
                  <c:v>3.2224200000000001E-2</c:v>
                </c:pt>
                <c:pt idx="5">
                  <c:v>4.4315E-2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370-41AB-8EC9-E55936796A6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00470671"/>
        <c:axId val="1400472591"/>
      </c:barChart>
      <c:catAx>
        <c:axId val="140047067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zh-CN" altLang="en-US" dirty="0"/>
                  <a:t>核大小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400472591"/>
        <c:crosses val="autoZero"/>
        <c:auto val="1"/>
        <c:lblAlgn val="ctr"/>
        <c:lblOffset val="100"/>
        <c:noMultiLvlLbl val="0"/>
      </c:catAx>
      <c:valAx>
        <c:axId val="14004725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zh-CN" altLang="en-US" dirty="0"/>
                  <a:t>运行时间 </a:t>
                </a:r>
                <a:r>
                  <a:rPr lang="en-US" altLang="zh-CN" dirty="0"/>
                  <a:t>(</a:t>
                </a:r>
                <a:r>
                  <a:rPr lang="en-US" altLang="zh-CN" dirty="0" err="1"/>
                  <a:t>ms</a:t>
                </a:r>
                <a:r>
                  <a:rPr lang="en-US" altLang="zh-CN" dirty="0"/>
                  <a:t>)</a:t>
                </a:r>
                <a:endParaRPr lang="zh-CN" alt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CN" alt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400470671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</c:dTable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79B4A8-4442-4EFA-983E-4A3A47E7C37A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DCAE5F-3CE4-4689-9B39-A23F7DE768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5965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DCAE5F-3CE4-4689-9B39-A23F7DE768F1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8914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DCAE5F-3CE4-4689-9B39-A23F7DE768F1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23187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FA68-B263-D858-11CA-B3904310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CC1D08A-47D0-5C25-BC03-F0693816E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A150CC7-A21A-8372-45F3-17A4F6409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435844-F6FD-697E-1600-B9C099889C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DCAE5F-3CE4-4689-9B39-A23F7DE768F1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82578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B5E03-2F5D-023A-B9ED-D763C25B0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F1574A7-382D-9EE8-6BA0-9B95DC5EE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F3036B0-DF1D-1E54-98BA-4D2D728152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E940AC9-714A-52AF-2920-C9CB7C7D97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DCAE5F-3CE4-4689-9B39-A23F7DE768F1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04198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87CB7-E75E-152F-86DF-B5A1952F0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DD866AC-1190-2493-E065-269EBF107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87CD2E8-BA47-54B4-BACC-36C17101D9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63EDD4D-C703-7C5B-6BEB-1877914AB5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DCAE5F-3CE4-4689-9B39-A23F7DE768F1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96261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69313-EF03-AD87-185F-091B15F1E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7D1AC2-89BF-12E6-E79D-E21B8BF08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95A4FE-248F-4DF4-A4B2-071F3A67E5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ECF15FE-7795-7C17-EF13-ADDD69A153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DCAE5F-3CE4-4689-9B39-A23F7DE768F1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16778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249DDD-9875-44F9-6E92-DA13D1F017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FCA5022-F347-A180-0463-ABCE381737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260464-537D-19D0-031A-8DFE3802A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741F8B-42BC-476A-51C9-4359246FE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60107D4-A13C-3DE1-EBBD-58597B487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0270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667E57-8E7C-DF5B-3EA0-DEDF87D9D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A34DF15-2483-44C5-5685-66C51A7E2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6B39EE-10B1-3E27-E440-2272B698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90B9C2-8892-5C3F-2605-C4353E8C1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9AD0E22-F973-1AE5-26FD-36EE9A938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3623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6BC9A1-7A29-25DB-845F-A83DADDA9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EB9A895-385B-EFBC-91A4-0D2BF07F1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C94D16-D9BD-33B1-8FEF-A65A6D09B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B99E92-0C78-3C28-1B7C-4351628B9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9909C5-1E22-4B5B-1E93-82AA75539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1088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D5E355-FA50-3036-598C-000291EB2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2E3C9C-158B-2607-4D52-A5F8B33216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80FC6C1-B332-2760-34EC-9E34A4B7F6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D20FA37-E392-2A23-A3C8-5B1ED8E7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BB4E67-D586-F932-7531-45BD81FD3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E931849-EBB4-4CC1-151B-9882F52A8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7566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6AEF92-18FB-6C91-B59B-7032656E7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F5DD432-211A-AB85-5BFF-9D569CC9BB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CD84D7-FD85-023A-2257-1ED88CD884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AC8C7A7-09E8-8F25-31D9-F0C623ED62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D9268A9-83D1-3B1D-562C-E6AFD837A2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40F304-99B9-2056-9AF6-BE7D2D589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DB90B88-71E8-8468-4663-19F0E6DF0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871E698-F706-FF34-BCB9-045368015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59397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B8844F-A14F-B5C2-24C8-318FA24DB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12B8F9-5FB6-FFA5-2BB5-3E5E81209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A235E6E-144E-F740-8EC1-EEDD5E6CF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A329D2C-52A9-6978-740E-CE2DC1D36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1084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D0FBCA-0B56-5965-F135-2049E7FE7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E998A8B-557E-095D-7B56-E409571AE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1150E05-9C7F-07FD-2831-27D2322E5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4332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CB1406-B02C-652B-E2DA-76B404E20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331B3E-A291-55F9-616E-90DBEBACF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EA96BDE-594A-D247-345A-AD57ED421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8FFE24A-D2F2-71E9-5B68-8F8121720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9F8CE01-C745-DCCF-0837-08F092CCD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8CAA7F1-EA98-74CF-FDD8-E2379A1D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2581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6C7968A-6C25-841F-FA23-0F74CDD85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A5FA35A-DF7C-3F2C-9A47-E55FABD5A2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A5D7B5F-024C-15D8-A470-ED2CB1F856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A54ADD0-D316-F158-9755-3DF8200C8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739EB74-7FF6-8A38-2ECD-0B452A5AE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D4E168A-3E48-BBAB-F269-41B878715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931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886121-60DF-E1A3-AD2A-4CE13297B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EE91008-7646-F4CA-C35D-B395DB591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36F4A0-0415-2DAC-B121-91C3181E0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866745-6BC1-F193-02C7-19FC745B3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B30524-2AE4-2DC9-83D6-7447840B2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5201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C77D95-CC7F-F505-B181-BFAD1D3F7C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4F6205B-452E-9C98-533F-F1F82A0C7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D0E279-F114-9F20-3CD5-13F9DAE96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E7EED-2046-4448-A79D-DDD88A7B3F8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070391-B52D-3D73-5DAA-7D4263899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F2BCBD-E82C-CDD5-138E-C4F3A3564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6487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6EB2143-46D5-1D5F-DC98-381BF2174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AEA5202-D525-1D51-742D-938EC50F6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4001A4-6B01-43CD-FB2E-0DD7E84CB5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1E7EED-2046-4448-A79D-DDD88A7B3F82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AC9004-5EBD-8874-B46B-D116EF32E7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E159186-B754-7DBA-C721-E5ED1CEDE9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0EDD31-08BC-4BE6-86EE-571A13AF60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6708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43ECE4-D16A-FF0D-71BB-69970F9A7A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/>
          <a:lstStyle/>
          <a:p>
            <a:r>
              <a:rPr lang="en-US" altLang="zh-CN" dirty="0"/>
              <a:t>CUDA </a:t>
            </a:r>
            <a:r>
              <a:rPr lang="zh-CN" altLang="en-US" dirty="0"/>
              <a:t>图像处理入门</a:t>
            </a:r>
            <a:br>
              <a:rPr lang="en-US" altLang="zh-CN" dirty="0"/>
            </a:br>
            <a:r>
              <a:rPr lang="en-US" altLang="zh-CN" dirty="0"/>
              <a:t>03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49731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39"/>
    </mc:Choice>
    <mc:Fallback xmlns="">
      <p:transition spd="slow" advTm="539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0A7818-D2C5-5D9C-E3DA-366CD2ED2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可分离性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5465F2A-46B7-3D85-616F-0D0BA93BF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水平（</a:t>
            </a:r>
            <a:r>
              <a:rPr lang="en-US" altLang="zh-CN" dirty="0"/>
              <a:t>X</a:t>
            </a:r>
            <a:r>
              <a:rPr lang="zh-CN" altLang="en-US" dirty="0"/>
              <a:t>）方向滤波</a:t>
            </a:r>
            <a:endParaRPr lang="en-US" altLang="zh-CN" dirty="0"/>
          </a:p>
          <a:p>
            <a:r>
              <a:rPr lang="zh-CN" altLang="en-US" dirty="0"/>
              <a:t>垂直（</a:t>
            </a:r>
            <a:r>
              <a:rPr lang="en-US" altLang="zh-CN" dirty="0"/>
              <a:t>Y</a:t>
            </a:r>
            <a:r>
              <a:rPr lang="zh-CN" altLang="en-US" dirty="0"/>
              <a:t>）方向滤波</a:t>
            </a:r>
          </a:p>
        </p:txBody>
      </p:sp>
    </p:spTree>
    <p:extLst>
      <p:ext uri="{BB962C8B-B14F-4D97-AF65-F5344CB8AC3E}">
        <p14:creationId xmlns:p14="http://schemas.microsoft.com/office/powerpoint/2010/main" val="2645049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内容占位符 5">
            <a:extLst>
              <a:ext uri="{FF2B5EF4-FFF2-40B4-BE49-F238E27FC236}">
                <a16:creationId xmlns:a16="http://schemas.microsoft.com/office/drawing/2014/main" id="{91E1B100-300E-50B6-AC5D-CE3F30AD9A8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4455604"/>
              </p:ext>
            </p:extLst>
          </p:nvPr>
        </p:nvGraphicFramePr>
        <p:xfrm>
          <a:off x="838200" y="711200"/>
          <a:ext cx="10515600" cy="54657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4F8455DF-73A5-F1D0-C14A-DD19D7DE5BD1}"/>
              </a:ext>
            </a:extLst>
          </p:cNvPr>
          <p:cNvSpPr txBox="1"/>
          <p:nvPr/>
        </p:nvSpPr>
        <p:spPr>
          <a:xfrm>
            <a:off x="8525782" y="5807631"/>
            <a:ext cx="2828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测试设备：</a:t>
            </a:r>
            <a:r>
              <a:rPr lang="en-US" altLang="zh-CN" dirty="0"/>
              <a:t>14700KF+4090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46783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9E72C-7172-D976-29DF-BAD0E87BC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内容占位符 5">
            <a:extLst>
              <a:ext uri="{FF2B5EF4-FFF2-40B4-BE49-F238E27FC236}">
                <a16:creationId xmlns:a16="http://schemas.microsoft.com/office/drawing/2014/main" id="{560F1052-7206-D503-71BB-22FEFBB00F1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711200"/>
          <a:ext cx="10515600" cy="54657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182C345C-6529-F58D-A175-ED3C2B7DFB2C}"/>
              </a:ext>
            </a:extLst>
          </p:cNvPr>
          <p:cNvSpPr txBox="1"/>
          <p:nvPr/>
        </p:nvSpPr>
        <p:spPr>
          <a:xfrm>
            <a:off x="8525782" y="5807631"/>
            <a:ext cx="2828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测试设备：</a:t>
            </a:r>
            <a:r>
              <a:rPr lang="en-US" altLang="zh-CN" dirty="0"/>
              <a:t>14700KF+4090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61623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C9946-6B8D-FA18-B63D-9EF18DCF5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内容占位符 5">
            <a:extLst>
              <a:ext uri="{FF2B5EF4-FFF2-40B4-BE49-F238E27FC236}">
                <a16:creationId xmlns:a16="http://schemas.microsoft.com/office/drawing/2014/main" id="{1BB34D51-953C-FC99-33AF-809AC21CB45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711200"/>
          <a:ext cx="10515600" cy="54657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5D6A4F5B-F8FC-2118-D720-B67748F6CC5E}"/>
              </a:ext>
            </a:extLst>
          </p:cNvPr>
          <p:cNvSpPr txBox="1"/>
          <p:nvPr/>
        </p:nvSpPr>
        <p:spPr>
          <a:xfrm>
            <a:off x="8525782" y="5807631"/>
            <a:ext cx="2828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测试设备：</a:t>
            </a:r>
            <a:r>
              <a:rPr lang="en-US" altLang="zh-CN" dirty="0"/>
              <a:t>14700KF+4090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8306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内容占位符 14">
            <a:extLst>
              <a:ext uri="{FF2B5EF4-FFF2-40B4-BE49-F238E27FC236}">
                <a16:creationId xmlns:a16="http://schemas.microsoft.com/office/drawing/2014/main" id="{401BCEBB-3988-65A9-7CAF-04591FFDB3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94941" y="1560240"/>
            <a:ext cx="8002117" cy="3915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339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内容占位符 8">
            <a:extLst>
              <a:ext uri="{FF2B5EF4-FFF2-40B4-BE49-F238E27FC236}">
                <a16:creationId xmlns:a16="http://schemas.microsoft.com/office/drawing/2014/main" id="{020B4AEA-E073-31AF-F7D7-ED60AA424F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5953" y="693738"/>
            <a:ext cx="5140094" cy="5483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123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034391B1-4733-E30C-57B1-B213FCF7BD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0152" y="981519"/>
            <a:ext cx="8211696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029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内容占位符 8">
            <a:extLst>
              <a:ext uri="{FF2B5EF4-FFF2-40B4-BE49-F238E27FC236}">
                <a16:creationId xmlns:a16="http://schemas.microsoft.com/office/drawing/2014/main" id="{D9B7BF64-B742-5121-E0F2-DFAF2B9A09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13809" y="1712673"/>
            <a:ext cx="9364382" cy="3439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092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内容占位符 22">
            <a:extLst>
              <a:ext uri="{FF2B5EF4-FFF2-40B4-BE49-F238E27FC236}">
                <a16:creationId xmlns:a16="http://schemas.microsoft.com/office/drawing/2014/main" id="{81D5DD2F-2839-7042-1761-D9991281E0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07431" y="673100"/>
            <a:ext cx="6177138" cy="5503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4195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990465-E505-1C9B-9697-7CEC66C2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算法复杂度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782A88-0973-09B0-4B75-C73893FDA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/>
              <a:t>blur_image</a:t>
            </a:r>
            <a:r>
              <a:rPr lang="zh-CN" altLang="en-US" dirty="0"/>
              <a:t>：</a:t>
            </a:r>
            <a:r>
              <a:rPr lang="en-US" altLang="zh-CN" dirty="0"/>
              <a:t>O(</a:t>
            </a:r>
            <a:r>
              <a:rPr lang="en-US" altLang="zh-CN" dirty="0" err="1"/>
              <a:t>mxn</a:t>
            </a:r>
            <a:r>
              <a:rPr lang="en-US" altLang="zh-CN" dirty="0"/>
              <a:t>)</a:t>
            </a:r>
          </a:p>
          <a:p>
            <a:r>
              <a:rPr lang="en-US" altLang="zh-CN" dirty="0" err="1"/>
              <a:t>blur_image_separable</a:t>
            </a:r>
            <a:r>
              <a:rPr lang="zh-CN" altLang="en-US" dirty="0"/>
              <a:t>：</a:t>
            </a:r>
            <a:r>
              <a:rPr lang="en-US" altLang="zh-CN" dirty="0"/>
              <a:t>O(</a:t>
            </a:r>
            <a:r>
              <a:rPr lang="en-US" altLang="zh-CN" dirty="0" err="1"/>
              <a:t>m+n</a:t>
            </a:r>
            <a:r>
              <a:rPr lang="en-US" altLang="zh-CN" dirty="0"/>
              <a:t>)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173339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7BA2F-E436-9602-B97B-FDDF36621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内容占位符 5">
            <a:extLst>
              <a:ext uri="{FF2B5EF4-FFF2-40B4-BE49-F238E27FC236}">
                <a16:creationId xmlns:a16="http://schemas.microsoft.com/office/drawing/2014/main" id="{703024A9-82C1-E5B1-3FDA-0F7E966A32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7941868"/>
              </p:ext>
            </p:extLst>
          </p:nvPr>
        </p:nvGraphicFramePr>
        <p:xfrm>
          <a:off x="838200" y="711200"/>
          <a:ext cx="10515600" cy="54657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8A333D42-4F96-C3A6-FC2A-D1E86A370258}"/>
              </a:ext>
            </a:extLst>
          </p:cNvPr>
          <p:cNvSpPr txBox="1"/>
          <p:nvPr/>
        </p:nvSpPr>
        <p:spPr>
          <a:xfrm>
            <a:off x="8525782" y="5807631"/>
            <a:ext cx="2828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测试设备：</a:t>
            </a:r>
            <a:r>
              <a:rPr lang="en-US" altLang="zh-CN" dirty="0"/>
              <a:t>14700KF+4090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9171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626BE-C8B3-EAD2-FDC6-37EA5F23E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内容占位符 5">
            <a:extLst>
              <a:ext uri="{FF2B5EF4-FFF2-40B4-BE49-F238E27FC236}">
                <a16:creationId xmlns:a16="http://schemas.microsoft.com/office/drawing/2014/main" id="{B060F8BF-8D33-8A2D-DD72-B0ED0D5356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34660182"/>
              </p:ext>
            </p:extLst>
          </p:nvPr>
        </p:nvGraphicFramePr>
        <p:xfrm>
          <a:off x="838200" y="711200"/>
          <a:ext cx="10515600" cy="54657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8C288CA4-8202-465D-2329-4875218B48FD}"/>
              </a:ext>
            </a:extLst>
          </p:cNvPr>
          <p:cNvSpPr txBox="1"/>
          <p:nvPr/>
        </p:nvSpPr>
        <p:spPr>
          <a:xfrm>
            <a:off x="8525782" y="5807631"/>
            <a:ext cx="2828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测试设备：</a:t>
            </a:r>
            <a:r>
              <a:rPr lang="en-US" altLang="zh-CN" dirty="0"/>
              <a:t>14700KF+4090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46255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4E29C9-E2ED-B65D-0F18-511832B3C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总结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7221591-8986-5746-8D9C-BCDE4A9632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正常版本滤波 </a:t>
            </a:r>
            <a:r>
              <a:rPr lang="en-US" altLang="zh-CN" dirty="0"/>
              <a:t>vs </a:t>
            </a:r>
            <a:r>
              <a:rPr lang="zh-CN" altLang="en-US" dirty="0"/>
              <a:t>分离版本滤波</a:t>
            </a:r>
            <a:endParaRPr lang="en-US" altLang="zh-CN" dirty="0"/>
          </a:p>
          <a:p>
            <a:r>
              <a:rPr lang="zh-CN" altLang="en-US"/>
              <a:t>性能瓶颈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817052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2082</TotalTime>
  <Words>151</Words>
  <Application>Microsoft Office PowerPoint</Application>
  <PresentationFormat>宽屏</PresentationFormat>
  <Paragraphs>37</Paragraphs>
  <Slides>14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等线</vt:lpstr>
      <vt:lpstr>等线 Light</vt:lpstr>
      <vt:lpstr>Arial</vt:lpstr>
      <vt:lpstr>Office 主题​​</vt:lpstr>
      <vt:lpstr>CUDA 图像处理入门 03</vt:lpstr>
      <vt:lpstr>可分离性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算法复杂度</vt:lpstr>
      <vt:lpstr>PowerPoint 演示文稿</vt:lpstr>
      <vt:lpstr>PowerPoint 演示文稿</vt:lpstr>
      <vt:lpstr>总结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涛 王</dc:creator>
  <cp:lastModifiedBy>涛 王</cp:lastModifiedBy>
  <cp:revision>26</cp:revision>
  <dcterms:created xsi:type="dcterms:W3CDTF">2025-10-12T04:10:01Z</dcterms:created>
  <dcterms:modified xsi:type="dcterms:W3CDTF">2025-10-29T16:19:42Z</dcterms:modified>
</cp:coreProperties>
</file>