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6" r:id="rId9"/>
    <p:sldId id="274" r:id="rId10"/>
    <p:sldId id="275" r:id="rId11"/>
    <p:sldId id="27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4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9B4A8-4442-4EFA-983E-4A3A47E7C37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CAE5F-3CE4-4689-9B39-A23F7DE76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965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AE5F-3CE4-4689-9B39-A23F7DE768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914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49DDD-9875-44F9-6E92-DA13D1F01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CA5022-F347-A180-0463-ABCE38173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60464-537D-19D0-031A-8DFE3802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741F8B-42BC-476A-51C9-4359246F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0107D4-A13C-3DE1-EBBD-58597B48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27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67E57-8E7C-DF5B-3EA0-DEDF87D9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34DF15-2483-44C5-5685-66C51A7E2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6B39EE-10B1-3E27-E440-2272B6985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90B9C2-8892-5C3F-2605-C4353E8C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AD0E22-F973-1AE5-26FD-36EE9A93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62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BC9A1-7A29-25DB-845F-A83DADDA9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B9A895-385B-EFBC-91A4-0D2BF07F1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94D16-D9BD-33B1-8FEF-A65A6D09B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B99E92-0C78-3C28-1B7C-4351628B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9909C5-1E22-4B5B-1E93-82AA7553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0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5E355-FA50-3036-598C-000291EB2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E3C9C-158B-2607-4D52-A5F8B33216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0FC6C1-B332-2760-34EC-9E34A4B7F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20FA37-E392-2A23-A3C8-5B1ED8E7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BB4E67-D586-F932-7531-45BD81FD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931849-EBB4-4CC1-151B-9882F52A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566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AEF92-18FB-6C91-B59B-7032656E7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5DD432-211A-AB85-5BFF-9D569CC9B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CD84D7-FD85-023A-2257-1ED88CD8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C8C7A7-09E8-8F25-31D9-F0C623ED6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9268A9-83D1-3B1D-562C-E6AFD837A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40F304-99B9-2056-9AF6-BE7D2D589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B90B88-71E8-8468-4663-19F0E6DF0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71E698-F706-FF34-BCB9-04536801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93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8844F-A14F-B5C2-24C8-318FA24DB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12B8F9-5FB6-FFA5-2BB5-3E5E8120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235E6E-144E-F740-8EC1-EEDD5E6C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9D2C-52A9-6978-740E-CE2DC1D3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084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D0FBCA-0B56-5965-F135-2049E7FE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998A8B-557E-095D-7B56-E409571A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150E05-9C7F-07FD-2831-27D2322E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332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B1406-B02C-652B-E2DA-76B404E2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331B3E-A291-55F9-616E-90DBEBACF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A96BDE-594A-D247-345A-AD57ED421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FFE24A-D2F2-71E9-5B68-8F812172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F8CE01-C745-DCCF-0837-08F092CC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CAA7F1-EA98-74CF-FDD8-E2379A1D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58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7968A-6C25-841F-FA23-0F74CDD8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5FA35A-DF7C-3F2C-9A47-E55FABD5A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5D7B5F-024C-15D8-A470-ED2CB1F85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54ADD0-D316-F158-9755-3DF8200C8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39EB74-7FF6-8A38-2ECD-0B452A5A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4E168A-3E48-BBAB-F269-41B878715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3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86121-60DF-E1A3-AD2A-4CE13297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E91008-7646-F4CA-C35D-B395DB591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36F4A0-0415-2DAC-B121-91C3181E0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866745-6BC1-F193-02C7-19FC745B3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30524-2AE4-2DC9-83D6-7447840B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01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C77D95-CC7F-F505-B181-BFAD1D3F7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F6205B-452E-9C98-533F-F1F82A0C7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D0E279-F114-9F20-3CD5-13F9DAE96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070391-B52D-3D73-5DAA-7D4263899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F2BCBD-E82C-CDD5-138E-C4F3A356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48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EB2143-46D5-1D5F-DC98-381BF217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EA5202-D525-1D51-742D-938EC50F6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4001A4-6B01-43CD-FB2E-0DD7E84CB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E7EED-2046-4448-A79D-DDD88A7B3F8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AC9004-5EBD-8874-B46B-D116EF32E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159186-B754-7DBA-C721-E5ED1CEDE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70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3ECE4-D16A-FF0D-71BB-69970F9A7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altLang="zh-CN" dirty="0"/>
              <a:t>CUDA </a:t>
            </a:r>
            <a:r>
              <a:rPr lang="zh-CN" altLang="en-US" dirty="0"/>
              <a:t>图像处理入门</a:t>
            </a:r>
            <a:br>
              <a:rPr lang="en-US" altLang="zh-CN" dirty="0"/>
            </a:br>
            <a:r>
              <a:rPr lang="en-US" altLang="zh-CN" dirty="0"/>
              <a:t>05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973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9"/>
    </mc:Choice>
    <mc:Fallback xmlns="">
      <p:transition spd="slow" advTm="53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5CC439-8163-2976-57B4-1CDD059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高级形态学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20136E-B3B3-E781-B4D7-3D46D7735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开运算</a:t>
            </a:r>
            <a:endParaRPr lang="en-US" altLang="zh-CN" dirty="0"/>
          </a:p>
          <a:p>
            <a:r>
              <a:rPr lang="zh-CN" altLang="en-US" dirty="0"/>
              <a:t>闭运算</a:t>
            </a:r>
            <a:endParaRPr lang="en-US" altLang="zh-CN" dirty="0"/>
          </a:p>
          <a:p>
            <a:r>
              <a:rPr lang="zh-CN" altLang="en-US" dirty="0"/>
              <a:t>形态学梯度</a:t>
            </a:r>
            <a:endParaRPr lang="en-US" altLang="zh-CN" dirty="0"/>
          </a:p>
          <a:p>
            <a:r>
              <a:rPr lang="zh-CN" altLang="en-US" dirty="0"/>
              <a:t>顶帽</a:t>
            </a:r>
            <a:endParaRPr lang="en-US" altLang="zh-CN" dirty="0"/>
          </a:p>
          <a:p>
            <a:r>
              <a:rPr lang="zh-CN" altLang="en-US" dirty="0"/>
              <a:t>黑帽</a:t>
            </a:r>
            <a:endParaRPr lang="en-US" altLang="zh-CN" dirty="0"/>
          </a:p>
          <a:p>
            <a:r>
              <a:rPr lang="zh-CN" altLang="en-US" dirty="0"/>
              <a:t>击中击不中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6881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B728CE-7F76-07C9-6C41-396BF6644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C04D69-5C64-34AB-431F-33B4EE82F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dst</a:t>
            </a:r>
            <a:r>
              <a:rPr lang="en-US" altLang="zh-CN" dirty="0"/>
              <a:t> = dilate(erode(</a:t>
            </a:r>
            <a:r>
              <a:rPr lang="en-US" altLang="zh-CN" dirty="0" err="1"/>
              <a:t>src,element</a:t>
            </a:r>
            <a:r>
              <a:rPr lang="en-US" altLang="zh-CN" dirty="0"/>
              <a:t>))</a:t>
            </a:r>
          </a:p>
          <a:p>
            <a:r>
              <a:rPr lang="zh-CN" altLang="en-US" dirty="0"/>
              <a:t>去除背景中的亮噪点，保持前景物体大小基本不变</a:t>
            </a:r>
          </a:p>
        </p:txBody>
      </p:sp>
      <p:pic>
        <p:nvPicPr>
          <p:cNvPr id="5" name="图片 4" descr="徽标&#10;&#10;AI 生成的内容可能不正确。">
            <a:extLst>
              <a:ext uri="{FF2B5EF4-FFF2-40B4-BE49-F238E27FC236}">
                <a16:creationId xmlns:a16="http://schemas.microsoft.com/office/drawing/2014/main" id="{94B3CC6E-0831-3DD6-3EF0-3A60AB8C7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00" y="2880000"/>
            <a:ext cx="2133600" cy="2857500"/>
          </a:xfrm>
          <a:prstGeom prst="rect">
            <a:avLst/>
          </a:prstGeom>
        </p:spPr>
      </p:pic>
      <p:pic>
        <p:nvPicPr>
          <p:cNvPr id="7" name="图片 6" descr="图标&#10;&#10;AI 生成的内容可能不正确。">
            <a:extLst>
              <a:ext uri="{FF2B5EF4-FFF2-40B4-BE49-F238E27FC236}">
                <a16:creationId xmlns:a16="http://schemas.microsoft.com/office/drawing/2014/main" id="{26EDF718-45AA-D531-947E-A1E1394FB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600" y="2880000"/>
            <a:ext cx="2133600" cy="2857500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870C07E1-279E-5822-9E5D-80DD02D125B2}"/>
              </a:ext>
            </a:extLst>
          </p:cNvPr>
          <p:cNvSpPr/>
          <p:nvPr/>
        </p:nvSpPr>
        <p:spPr>
          <a:xfrm>
            <a:off x="5575300" y="4197350"/>
            <a:ext cx="609600" cy="133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851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10407-37AB-E3EB-56F1-2B0CF3C5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99837F-44F8-06EC-E359-3A25A4D29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闭运算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69C8D7-52E5-3134-024B-6200CEC62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dst</a:t>
            </a:r>
            <a:r>
              <a:rPr lang="en-US" altLang="zh-CN" dirty="0"/>
              <a:t> = erode(dilate(</a:t>
            </a:r>
            <a:r>
              <a:rPr lang="en-US" altLang="zh-CN" dirty="0" err="1"/>
              <a:t>src,element</a:t>
            </a:r>
            <a:r>
              <a:rPr lang="en-US" altLang="zh-CN" dirty="0"/>
              <a:t>))</a:t>
            </a:r>
          </a:p>
          <a:p>
            <a:r>
              <a:rPr lang="zh-CN" altLang="en-US" dirty="0"/>
              <a:t>填充前景物体内部的黑色小孔或者连接断裂处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8F3DBBFF-38CB-E536-A668-E567395CFE03}"/>
              </a:ext>
            </a:extLst>
          </p:cNvPr>
          <p:cNvSpPr/>
          <p:nvPr/>
        </p:nvSpPr>
        <p:spPr>
          <a:xfrm>
            <a:off x="5575300" y="4197350"/>
            <a:ext cx="609600" cy="133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图标&#10;&#10;AI 生成的内容可能不正确。">
            <a:extLst>
              <a:ext uri="{FF2B5EF4-FFF2-40B4-BE49-F238E27FC236}">
                <a16:creationId xmlns:a16="http://schemas.microsoft.com/office/drawing/2014/main" id="{52ED3E4D-3773-B1BF-47DF-14C1A6812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00" y="2880000"/>
            <a:ext cx="2133600" cy="2857500"/>
          </a:xfrm>
          <a:prstGeom prst="rect">
            <a:avLst/>
          </a:prstGeom>
        </p:spPr>
      </p:pic>
      <p:pic>
        <p:nvPicPr>
          <p:cNvPr id="10" name="图片 9" descr="图标&#10;&#10;AI 生成的内容可能不正确。">
            <a:extLst>
              <a:ext uri="{FF2B5EF4-FFF2-40B4-BE49-F238E27FC236}">
                <a16:creationId xmlns:a16="http://schemas.microsoft.com/office/drawing/2014/main" id="{93599D1B-1DDB-B0E0-E8A8-E15A0A23C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600" y="2880000"/>
            <a:ext cx="21336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4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F67A3-E75E-1DEF-4D8C-1BE811ADE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69E85-8706-7D7E-1ABA-06E63F576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形态学梯度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749972-7468-36C4-B2FE-39D451C31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zh-CN" dirty="0"/>
              <a:t>dst = dilate(</a:t>
            </a:r>
            <a:r>
              <a:rPr lang="fr-FR" altLang="zh-CN" dirty="0" err="1"/>
              <a:t>src,element</a:t>
            </a:r>
            <a:r>
              <a:rPr lang="fr-FR" altLang="zh-CN" dirty="0"/>
              <a:t>) - </a:t>
            </a:r>
            <a:r>
              <a:rPr lang="fr-FR" altLang="zh-CN" dirty="0" err="1"/>
              <a:t>erode</a:t>
            </a:r>
            <a:r>
              <a:rPr lang="fr-FR" altLang="zh-CN" dirty="0"/>
              <a:t>(</a:t>
            </a:r>
            <a:r>
              <a:rPr lang="fr-FR" altLang="zh-CN" dirty="0" err="1"/>
              <a:t>src,element</a:t>
            </a:r>
            <a:r>
              <a:rPr lang="fr-FR" altLang="zh-CN" dirty="0"/>
              <a:t>)</a:t>
            </a:r>
          </a:p>
          <a:p>
            <a:r>
              <a:rPr lang="zh-CN" altLang="en-US" dirty="0"/>
              <a:t>获取物体清晰的轮廓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208C508A-3E57-E401-DCF4-96B637661F5F}"/>
              </a:ext>
            </a:extLst>
          </p:cNvPr>
          <p:cNvSpPr/>
          <p:nvPr/>
        </p:nvSpPr>
        <p:spPr>
          <a:xfrm>
            <a:off x="5575300" y="4197350"/>
            <a:ext cx="609600" cy="133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图标&#10;&#10;AI 生成的内容可能不正确。">
            <a:extLst>
              <a:ext uri="{FF2B5EF4-FFF2-40B4-BE49-F238E27FC236}">
                <a16:creationId xmlns:a16="http://schemas.microsoft.com/office/drawing/2014/main" id="{E396330A-0442-BE41-AEF1-08077BC28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00" y="2880000"/>
            <a:ext cx="2133600" cy="2857500"/>
          </a:xfrm>
          <a:prstGeom prst="rect">
            <a:avLst/>
          </a:prstGeom>
        </p:spPr>
      </p:pic>
      <p:pic>
        <p:nvPicPr>
          <p:cNvPr id="9" name="图片 8" descr="图标&#10;&#10;AI 生成的内容可能不正确。">
            <a:extLst>
              <a:ext uri="{FF2B5EF4-FFF2-40B4-BE49-F238E27FC236}">
                <a16:creationId xmlns:a16="http://schemas.microsoft.com/office/drawing/2014/main" id="{38638452-BE43-CA0F-3E52-E02D53F81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600" y="2880000"/>
            <a:ext cx="21336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13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903FA-456C-47C9-B55B-36572B11D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3892B4-FA09-9624-23A1-5D6277F4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DD9C3D-D14C-4C2F-39CE-CB06E2153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zh-CN" dirty="0"/>
              <a:t>dst = src – open(</a:t>
            </a:r>
            <a:r>
              <a:rPr lang="fr-FR" altLang="zh-CN" dirty="0" err="1"/>
              <a:t>src,element</a:t>
            </a:r>
            <a:r>
              <a:rPr lang="fr-FR" altLang="zh-CN" dirty="0"/>
              <a:t>)</a:t>
            </a:r>
          </a:p>
          <a:p>
            <a:r>
              <a:rPr lang="zh-CN" altLang="en-US" dirty="0"/>
              <a:t>提取背景色较暗、且尺寸小于结构元素的亮点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524774E-3F3D-DB63-F5E1-6548D54FE727}"/>
              </a:ext>
            </a:extLst>
          </p:cNvPr>
          <p:cNvSpPr/>
          <p:nvPr/>
        </p:nvSpPr>
        <p:spPr>
          <a:xfrm>
            <a:off x="5575300" y="4197350"/>
            <a:ext cx="609600" cy="133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徽标&#10;&#10;AI 生成的内容可能不正确。">
            <a:extLst>
              <a:ext uri="{FF2B5EF4-FFF2-40B4-BE49-F238E27FC236}">
                <a16:creationId xmlns:a16="http://schemas.microsoft.com/office/drawing/2014/main" id="{A6E9FF82-90E9-3FDF-A3EB-448D5E94C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00" y="2880000"/>
            <a:ext cx="2133600" cy="2857500"/>
          </a:xfrm>
          <a:prstGeom prst="rect">
            <a:avLst/>
          </a:prstGeom>
        </p:spPr>
      </p:pic>
      <p:pic>
        <p:nvPicPr>
          <p:cNvPr id="10" name="图片 9" descr="人在雨里&#10;&#10;AI 生成的内容可能不正确。">
            <a:extLst>
              <a:ext uri="{FF2B5EF4-FFF2-40B4-BE49-F238E27FC236}">
                <a16:creationId xmlns:a16="http://schemas.microsoft.com/office/drawing/2014/main" id="{6982D8E5-74B4-C11C-61C8-04AB924E7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600" y="2880000"/>
            <a:ext cx="21336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114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26136-1015-0454-1A56-15CB47EA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6D44B-030F-BB91-C156-4AE57EC17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黑帽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B38995-A20C-5873-EAE7-88B9EFB39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zh-CN" dirty="0"/>
              <a:t>dst = close(</a:t>
            </a:r>
            <a:r>
              <a:rPr lang="fr-FR" altLang="zh-CN" dirty="0" err="1"/>
              <a:t>src,element</a:t>
            </a:r>
            <a:r>
              <a:rPr lang="fr-FR" altLang="zh-CN" dirty="0"/>
              <a:t>) - src</a:t>
            </a:r>
          </a:p>
          <a:p>
            <a:r>
              <a:rPr lang="zh-CN" altLang="en-US" dirty="0"/>
              <a:t>提取背景色较亮、且尺寸小于结构元素的暗点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933C451-E12D-8F08-3C15-79E9C9706A87}"/>
              </a:ext>
            </a:extLst>
          </p:cNvPr>
          <p:cNvSpPr/>
          <p:nvPr/>
        </p:nvSpPr>
        <p:spPr>
          <a:xfrm>
            <a:off x="5575300" y="4197350"/>
            <a:ext cx="609600" cy="133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图标&#10;&#10;AI 生成的内容可能不正确。">
            <a:extLst>
              <a:ext uri="{FF2B5EF4-FFF2-40B4-BE49-F238E27FC236}">
                <a16:creationId xmlns:a16="http://schemas.microsoft.com/office/drawing/2014/main" id="{DB4103B2-8470-AC4C-7E86-DF70C194E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00" y="2880000"/>
            <a:ext cx="2133600" cy="2857500"/>
          </a:xfrm>
          <a:prstGeom prst="rect">
            <a:avLst/>
          </a:prstGeom>
        </p:spPr>
      </p:pic>
      <p:pic>
        <p:nvPicPr>
          <p:cNvPr id="10" name="图片 9" descr="图片包含 游戏机&#10;&#10;AI 生成的内容可能不正确。">
            <a:extLst>
              <a:ext uri="{FF2B5EF4-FFF2-40B4-BE49-F238E27FC236}">
                <a16:creationId xmlns:a16="http://schemas.microsoft.com/office/drawing/2014/main" id="{6EFF6408-7A2E-4BA2-0CF2-B47CC70A3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600" y="2880000"/>
            <a:ext cx="21336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56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35DF100-998D-2465-39AB-A09901CBD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4335" y="1890507"/>
            <a:ext cx="8983329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429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64FCA2F-21A1-9D7E-2F39-1794E04DC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3345" y="639763"/>
            <a:ext cx="6785310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60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7230840-BD3B-4FC0-BA60-792FAA8A7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1099" y="2530347"/>
            <a:ext cx="8249801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9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D6182-0B12-9971-A0F1-877EE239E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142CC1-78C0-0505-E34E-9FE7EB2E0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高级形态学由腐蚀、膨胀组合</a:t>
            </a:r>
            <a:endParaRPr lang="en-US" altLang="zh-CN" dirty="0"/>
          </a:p>
          <a:p>
            <a:r>
              <a:rPr lang="zh-CN" altLang="en-US" dirty="0"/>
              <a:t>适用于二值</a:t>
            </a:r>
            <a:r>
              <a:rPr lang="en-US" altLang="zh-CN" dirty="0"/>
              <a:t>/</a:t>
            </a:r>
            <a:r>
              <a:rPr lang="zh-CN" altLang="en-US" dirty="0"/>
              <a:t>灰度图像</a:t>
            </a:r>
          </a:p>
        </p:txBody>
      </p:sp>
    </p:spTree>
    <p:extLst>
      <p:ext uri="{BB962C8B-B14F-4D97-AF65-F5344CB8AC3E}">
        <p14:creationId xmlns:p14="http://schemas.microsoft.com/office/powerpoint/2010/main" val="2165813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2987</TotalTime>
  <Words>152</Words>
  <Application>Microsoft Office PowerPoint</Application>
  <PresentationFormat>宽屏</PresentationFormat>
  <Paragraphs>27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CUDA 图像处理入门 05</vt:lpstr>
      <vt:lpstr>高级形态学</vt:lpstr>
      <vt:lpstr>开运算</vt:lpstr>
      <vt:lpstr>闭运算</vt:lpstr>
      <vt:lpstr>形态学梯度</vt:lpstr>
      <vt:lpstr>顶帽</vt:lpstr>
      <vt:lpstr>黑帽</vt:lpstr>
      <vt:lpstr>PowerPoint 演示文稿</vt:lpstr>
      <vt:lpstr>PowerPoint 演示文稿</vt:lpstr>
      <vt:lpstr>PowerPoint 演示文稿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涛 王</dc:creator>
  <cp:lastModifiedBy>涛 王</cp:lastModifiedBy>
  <cp:revision>37</cp:revision>
  <dcterms:created xsi:type="dcterms:W3CDTF">2025-10-12T04:10:01Z</dcterms:created>
  <dcterms:modified xsi:type="dcterms:W3CDTF">2025-11-23T04:02:53Z</dcterms:modified>
</cp:coreProperties>
</file>